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1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</a:t>
            </a:r>
            <a:pPr indent="0" marL="0">
              <a:buNone/>
            </a:pPr>
            <a:r>
              <a:rPr lang="en-US" sz="6000" b="1" spc="300" kern="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68680" y="33649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A8BA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TORQUE CALIBRATION CERTIFICATES, LABELS &amp; TRACEABILITY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1828800" cy="0"/>
          </a:xfrm>
          <a:prstGeom prst="line">
            <a:avLst/>
          </a:prstGeom>
          <a:noFill/>
          <a:ln w="12700">
            <a:solidFill>
              <a:srgbClr val="2B45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1605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prototype covering data entry, calibration maths, BS EN ISO 6789 certificates, Code 128 barcode labels, and a searchable SQLite store — built to demonstrate software engineering ability alongside torque and force metrology experience.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 ·  DEMONSTRATION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tool, three real jobs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calibration labs run this as three separate, disconnected processes: a spreadsheet for readings, a Word template for the certificate, and a label printer's own software. CALBENCH treats it as one flow — enter readings once, and the calculation, the certificate and the labels all stay in sync.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394960" cy="960120"/>
          </a:xfrm>
          <a:prstGeom prst="rect">
            <a:avLst/>
          </a:prstGeom>
          <a:solidFill>
            <a:srgbClr val="E7ECF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32095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7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31912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45643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Ten-point readings, both directions, live pass/fail against a configurable tolerance.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4187952"/>
            <a:ext cx="5394960" cy="960120"/>
          </a:xfrm>
          <a:prstGeom prst="rect">
            <a:avLst/>
          </a:prstGeom>
          <a:solidFill>
            <a:srgbClr val="E7ECF2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42885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7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4270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53542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BS EN ISO 6789 certificate that calculates linearity, repeatability and hysteresis from the readings — not typed 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266944"/>
            <a:ext cx="5394960" cy="960120"/>
          </a:xfrm>
          <a:prstGeom prst="rect">
            <a:avLst/>
          </a:prstGeom>
          <a:solidFill>
            <a:srgbClr val="E7ECF2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5367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7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5349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561441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barcode that follows the instrument through production, and a database that answers “what did this standard underwrite?”</a:t>
            </a:r>
            <a:endParaRPr lang="en-US" sz="1050" dirty="0"/>
          </a:p>
        </p:txBody>
      </p:sp>
      <p:pic>
        <p:nvPicPr>
          <p:cNvPr id="17" name="Image 0" descr="/home/claude/deck/full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196" y="1234440"/>
            <a:ext cx="2049848" cy="52120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C2E">
                <a:alpha val="28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CALBENCH — Demonstration Project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Instrument, method &amp; conditions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field a UKAS-style certificate needs: the instrument under test, the procedure it's calibrated to, and the conditions it was calibrated in. Ambient temperature is checked live against a permitted window — outside it, the certificate fails automatically, because the method wasn't followed regardless of how the readings looked.</a:t>
            </a:r>
            <a:endParaRPr lang="en-US" sz="1300" dirty="0"/>
          </a:p>
        </p:txBody>
      </p:sp>
      <p:pic>
        <p:nvPicPr>
          <p:cNvPr id="5" name="Image 0" descr="/home/claude/deck/01_instru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69606"/>
            <a:ext cx="5486400" cy="3839029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C2E">
                <a:alpha val="28000"/>
              </a:srgbClr>
            </a:outerShdw>
          </a:effectLst>
        </p:spPr>
      </p:pic>
      <p:pic>
        <p:nvPicPr>
          <p:cNvPr id="6" name="Image 1" descr="/home/claude/deck/02_meth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905034"/>
            <a:ext cx="5486400" cy="2968171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C2E">
                <a:alpha val="28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CALBENCH — Demonstration Project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traceability chain, not one 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calibration is only as good as the standards behind it. Most certificates name one reference item; a real lab uses several — a transducer, a rig, a multimeter, a weight set. Each has its own serial and certificate, and each is checked here against the calibration date: an expired standard is flagged automatically, because a standard out of calibration can't underwrite the certificate it appears on.</a:t>
            </a:r>
            <a:endParaRPr lang="en-US" sz="1300" dirty="0"/>
          </a:p>
        </p:txBody>
      </p:sp>
      <p:pic>
        <p:nvPicPr>
          <p:cNvPr id="5" name="Image 0" descr="/home/claude/deck/03_equip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8537" y="2514600"/>
            <a:ext cx="6504445" cy="3931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C2E">
                <a:alpha val="2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CALBENCH — Demonstration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test points, both directions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hand, left hand, or both — with both selected, every point gets its own readings, mean and verdict per direction, so a wrench that's fine one way and drifting the other doesn't get averaged into a false pass.</a:t>
            </a:r>
            <a:endParaRPr lang="en-US" sz="1300" dirty="0"/>
          </a:p>
        </p:txBody>
      </p:sp>
      <p:pic>
        <p:nvPicPr>
          <p:cNvPr id="5" name="Image 0" descr="/home/claude/deck/04_read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328863"/>
            <a:ext cx="7498080" cy="3983355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C2E">
                <a:alpha val="2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CALBENCH — Demonstration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reading that tells the story in one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Linearity, repeatability, hysteresis, best-fit slope, R² — every figure here is calculated from the raw readings, never typed in. The chart plots deviation against applied torque with the tolerance band shaded behind it; the point that has drifted past 100% of range is picked out in red the moment it happens.</a:t>
            </a:r>
            <a:endParaRPr lang="en-US" sz="1300" dirty="0"/>
          </a:p>
        </p:txBody>
      </p:sp>
      <p:pic>
        <p:nvPicPr>
          <p:cNvPr id="5" name="Image 0" descr="/home/claude/deck/05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5151" y="2331720"/>
            <a:ext cx="5451219" cy="41605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C2E">
                <a:alpha val="2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CALBENCH — Demonstration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certificate that reads as a real document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Masthead, instrument, calibration conditions, the full reference-equipment table, and results — laid out to BS EN ISO 6789, with an uncertainty statement referencing UKAS M3003. Prints straight to A4 with the interface stripped 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209544"/>
            <a:ext cx="82296" cy="8229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08152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0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Linearity, repeatability &amp; hysteresis, calculated and shown on the certificate itself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986784"/>
            <a:ext cx="82296" cy="8229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85876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0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equipment table with an expired-standard warning built 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764024"/>
            <a:ext cx="82296" cy="8229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6360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0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failure stated as its own reason, distinct from a tolerance failure</a:t>
            </a:r>
            <a:endParaRPr lang="en-US" sz="1150" dirty="0"/>
          </a:p>
        </p:txBody>
      </p:sp>
      <p:pic>
        <p:nvPicPr>
          <p:cNvPr id="11" name="Image 0" descr="/home/claude/deck/09_certificat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290863"/>
            <a:ext cx="5577840" cy="514495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C2E">
                <a:alpha val="28000"/>
              </a:srgbClr>
            </a:outerShdw>
          </a:effectLst>
        </p:spPr>
      </p:pic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CALBENCH — Demonstration Project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barcode, from goods-in to dispatch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128 generated in the page itself — no library, no CDN, no internet connection required. The same payload prints on a 70×32mm instrument sticker and a 100×70mm box label, so one scan follows the item through the whole process.</a:t>
            </a:r>
            <a:endParaRPr lang="en-US" sz="1300" dirty="0"/>
          </a:p>
        </p:txBody>
      </p:sp>
      <p:pic>
        <p:nvPicPr>
          <p:cNvPr id="5" name="Image 0" descr="/home/claude/deck/10_lab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2829" y="2194560"/>
            <a:ext cx="3075861" cy="42062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C2E">
                <a:alpha val="2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CALBENCH — Demonstration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scan answers the question paper can't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certificate and every reference item lives in SQLite. Scan a code — most scanners just type it and press Enter, so this needs no driver — and it returns the instrument plus its full calibration history. Search reaches into the reference-equipment table too: enter a standard's serial number and get back every certificate it underwrote, which is exactly the query you need when a standard turns out to be faulty.</a:t>
            </a:r>
            <a:endParaRPr lang="en-US" sz="1300" dirty="0"/>
          </a:p>
        </p:txBody>
      </p:sp>
      <p:pic>
        <p:nvPicPr>
          <p:cNvPr id="5" name="Image 0" descr="/home/claude/deck/08_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331458"/>
            <a:ext cx="5394960" cy="219508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C2E">
                <a:alpha val="2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CALBENCH — Demonstration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tool, built again for the workbench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build for the phone — not the desktop layout squeezed down, but a genuine mobile shell: a bottom tab bar, one full-height view at a time, 44px touch targets, and 16px inputs so Safari doesn't zoom on focus. Every calculation and every API call is the exact same code as the desktop build; only the shell differs. A certificate saved from a phone and one saved from a laptop are identical in the database.</a:t>
            </a:r>
            <a:endParaRPr lang="en-US" sz="1300" dirty="0"/>
          </a:p>
        </p:txBody>
      </p:sp>
      <p:pic>
        <p:nvPicPr>
          <p:cNvPr id="5" name="Image 0" descr="/home/claude/deck/mobile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2952" y="2743200"/>
            <a:ext cx="1732376" cy="37490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C2E">
                <a:alpha val="28000"/>
              </a:srgbClr>
            </a:outerShdw>
          </a:effectLst>
        </p:spPr>
      </p:pic>
      <p:pic>
        <p:nvPicPr>
          <p:cNvPr id="6" name="Image 1" descr="/home/claude/deck/mobile_read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192" y="2743200"/>
            <a:ext cx="1732376" cy="37490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01C2E">
                <a:alpha val="28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CALBENCH — Demonstration Project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ordinary tools, deliberately used well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611880" cy="4709160"/>
          </a:xfrm>
          <a:prstGeom prst="rect">
            <a:avLst/>
          </a:prstGeom>
          <a:solidFill>
            <a:srgbClr val="17335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810512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212848"/>
            <a:ext cx="30998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HTML, CSS and JavaScript — no build step, no framework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128 barcode encoder written from scratch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 deviation chart with a least-squares linearity fit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builds sharing one application core: desktop and a native-feeling mobile shell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71416" y="1600200"/>
            <a:ext cx="3611880" cy="4709160"/>
          </a:xfrm>
          <a:prstGeom prst="rect">
            <a:avLst/>
          </a:prstGeom>
          <a:solidFill>
            <a:srgbClr val="17335C"/>
          </a:solidFill>
          <a:ln/>
        </p:spPr>
      </p:sp>
      <p:sp>
        <p:nvSpPr>
          <p:cNvPr id="9" name="Text 7"/>
          <p:cNvSpPr/>
          <p:nvPr/>
        </p:nvSpPr>
        <p:spPr>
          <a:xfrm>
            <a:off x="4727448" y="1810512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27448" y="2212848"/>
            <a:ext cx="30998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standard library only — zero pip installs, runs on a locked-down PC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with a proper schema: instruments, certificates, readings, equipment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re-derives every verdict from stored readings — the client is never trusted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HTTP API: search, scan-lookup, save, load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02752" y="1600200"/>
            <a:ext cx="3611880" cy="4709160"/>
          </a:xfrm>
          <a:prstGeom prst="rect">
            <a:avLst/>
          </a:prstGeom>
          <a:solidFill>
            <a:srgbClr val="17335C"/>
          </a:solidFill>
          <a:ln/>
        </p:spPr>
      </p:sp>
      <p:sp>
        <p:nvSpPr>
          <p:cNvPr id="12" name="Text 10"/>
          <p:cNvSpPr/>
          <p:nvPr/>
        </p:nvSpPr>
        <p:spPr>
          <a:xfrm>
            <a:off x="8558784" y="1810512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JUDGEMENT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58784" y="2212848"/>
            <a:ext cx="30998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pass/fail traced to a specific standard — tolerance, temperature, equipment expiry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traceability: find every certificate a given standard underwrote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with synthetic data — a perfectly linear instrument returns R² = 1.0 exactly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iteratively against real feedback on what a working lab actually needs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2026-08-25T14:42:40Z</dcterms:created>
  <dcterms:modified xsi:type="dcterms:W3CDTF">2026-08-25T14:42:40Z</dcterms:modified>
</cp:coreProperties>
</file>